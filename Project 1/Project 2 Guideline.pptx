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0" r:id="rId2"/>
    <p:sldId id="256" r:id="rId3"/>
    <p:sldId id="258" r:id="rId4"/>
    <p:sldId id="276" r:id="rId5"/>
    <p:sldId id="277" r:id="rId6"/>
    <p:sldId id="272" r:id="rId7"/>
    <p:sldId id="273" r:id="rId8"/>
    <p:sldId id="257" r:id="rId9"/>
    <p:sldId id="275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0F926-712D-429E-863C-DF72A923A1AC}" type="datetimeFigureOut">
              <a:rPr lang="en-AU" smtClean="0"/>
              <a:t>15/08/2026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78E68-05E9-4D51-8B1B-2E882450B2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8203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D08F2-FE79-48EF-A564-2202CC137C2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1640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E0443-C5A3-E66C-1792-5EA82B380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6D431-0255-F608-0D53-F6B9F6048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42D1F-887D-A39E-3DAE-4D00DDA33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CAEB1-E002-E0E2-98B2-D8CD354DC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D08F2-FE79-48EF-A564-2202CC137C2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0747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84BF-410D-0B88-043F-AE26F9392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61A67-0122-EE0F-84B9-6E7B76246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6F78B-C336-A958-5293-6381EA53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15/08/2026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DA60E-D827-BDE8-90AE-39A2C79A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3B0ED-F639-506A-6B73-131B458C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8301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EEB58-4D34-3152-8F14-A0290B0A9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8F5CB-51FD-B180-347F-CB7EB6B0A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B5D5D-7F22-032A-3F9A-24BD36ED2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15/08/2026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563E5-EC58-2B81-829C-699827DC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8E848-A0C3-BE20-CFD6-4983C21B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0984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BC13-3B8A-85FA-B614-8E84DC346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CB457-9064-9722-58CD-D9111B1BC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BB781-C087-911C-D0D4-FF0E755AB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15/08/2026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5A737-2C30-3E9C-15AD-E59E19A7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86F3B-6334-141E-E6BC-E4D2662DF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0460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34B08-C8FE-16A7-726F-EDE0E1B1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AC328-7E53-D842-9F9F-081C655F0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434B1-EDCD-6B3E-EAC5-B3ECBD8A4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425FA-AD74-CFAB-2E62-27258CF2D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15/08/2026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11F73-ACC3-0017-B8CB-D693B0D1D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81F78-26DE-733F-9834-E33D9C52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207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A53BD-C49E-AC3F-101F-F3E1A7A90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41A4C-9B5E-6E09-8DC4-003A95846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8C7DF-DA83-EBBF-9E36-61C4CB916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D5C8C7-D67A-6C22-FD99-59CC8307B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1EA6F-BB25-5D89-7F71-6104346F4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966D34-A33F-A400-5F30-21050BD6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15/08/2026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CF98E-BFDE-47C6-15D2-162D2604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4DFBB-32B8-C0C7-BDAE-D2A794B7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173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8534-0B62-ADFD-0A26-543D11A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0DC6D-1435-818F-573D-EF1CECB0B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15/08/2026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1BB80A-E15C-F62D-3657-7A120370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C2C6E5-5EC3-8AB8-66B3-126F334CA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80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56EA0-055C-AD0F-14B4-AE39F3D07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15/08/2026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25491-4B07-1FD3-2A1E-4DB6B3009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464CC-7C2B-549F-8A0E-1DB4C6D9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986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2105-EA8B-8504-61A4-2F9C0E2E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BAB8B-324B-889C-9926-D5B2D7DC8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9EFF9-9E47-311C-7893-5383E547F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B78AC-F683-4A56-98E8-995FFE1AF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15/08/2026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D1035-86A1-CBC6-92DF-6FFB21A3F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80341-F1A6-1E9C-CCFF-1D0398502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65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2D691-3BF6-DB84-A66F-B1EA2A116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DF923D-E1D4-4F87-DD8B-CA79E0BEDF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2647F-8750-F6CD-54A0-225F8D75A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D4C29-DED3-A3A6-EB8B-ACA52AB21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15/08/2026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5EB82-9F5D-5E08-0B7B-76CF3DA17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DABD1-7624-F0EF-4D35-41F90BAC6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3385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3DA7-F1C9-C396-D227-CF5C74804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6ECE9-7FB4-EE5A-0D6D-C0DB9F8E6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5DA40-C800-6D28-E055-025427BE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15/08/2026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4258-3F3D-99F4-57B9-DBEF478A6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8C537-4942-1002-D9AC-7A81AFA0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7120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8ED46-CF56-F424-BEAC-078D4104E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5A411-CDC6-A072-CA99-993853D81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B7E32-9BE9-7FFF-4E2E-FF1789232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15/08/2026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54F01-FE23-B64F-EC86-2EABF273E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E711F-2D7D-30FB-332D-84D7B62CA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0182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8F4E0C-FE19-7EEF-997C-C13186126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776E8-3B89-5A4A-E18F-BCE680244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9C68B-21E5-8BD3-BE3C-0A490912C3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96DFA-1E77-4574-BB4D-46BBBF757AFC}" type="datetimeFigureOut">
              <a:rPr lang="en-AU" smtClean="0"/>
              <a:t>15/08/2026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6BEEA-DE92-4191-24E7-740EA17C9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5552A-4F1D-2C49-48D7-A9D3538A5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58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1F54AD-EA3E-0DA7-0130-9D4F40E87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" t="9091" r="2228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1389B8-6994-7A1D-5C7F-FA827478A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6219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400" dirty="0">
                <a:solidFill>
                  <a:srgbClr val="002060"/>
                </a:solidFill>
              </a:rPr>
              <a:t>Project 2 </a:t>
            </a:r>
            <a:r>
              <a:rPr lang="en-AU" sz="4400" dirty="0">
                <a:solidFill>
                  <a:srgbClr val="002060"/>
                </a:solidFill>
              </a:rPr>
              <a:t>Implementation &amp; Grading Guideline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7057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15768D-91D6-2DA3-1E7E-C6E511207598}"/>
              </a:ext>
            </a:extLst>
          </p:cNvPr>
          <p:cNvSpPr txBox="1"/>
          <p:nvPr/>
        </p:nvSpPr>
        <p:spPr>
          <a:xfrm>
            <a:off x="373464" y="279906"/>
            <a:ext cx="1144507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4500" b="1" dirty="0">
                <a:solidFill>
                  <a:srgbClr val="002060"/>
                </a:solidFill>
              </a:rPr>
              <a:t>Project 2</a:t>
            </a:r>
          </a:p>
          <a:p>
            <a:pPr algn="ctr">
              <a:buNone/>
            </a:pPr>
            <a:r>
              <a:rPr lang="en-AU" sz="4500" b="1" dirty="0">
                <a:solidFill>
                  <a:srgbClr val="002060"/>
                </a:solidFill>
              </a:rPr>
              <a:t>Responsible AI and System Evaluation</a:t>
            </a:r>
          </a:p>
          <a:p>
            <a:pPr algn="just">
              <a:buNone/>
            </a:pPr>
            <a:endParaRPr lang="en-AU" dirty="0"/>
          </a:p>
          <a:p>
            <a:pPr algn="just">
              <a:buNone/>
            </a:pPr>
            <a:r>
              <a:rPr lang="en-AU" dirty="0"/>
              <a:t>This project is to demonstrate your practical understanding of responsible AI evaluation and system governance. Instead of just chasing peak test accuracy in a lab, you will take on the role of a Responsible AI Auditor and ML Systems Engineer. You will critically evaluate your Project 1 machine learning model under real-world conditions, unpack its decision logic using Explainable AI (XAI) tools, audit it for hidden bias and fairness risks, and defend your deployment strategy and regulatory compliance in a live oral presentation.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C6CD42-9F31-C432-B885-22BF1FF6EE8A}"/>
              </a:ext>
            </a:extLst>
          </p:cNvPr>
          <p:cNvSpPr txBox="1"/>
          <p:nvPr/>
        </p:nvSpPr>
        <p:spPr>
          <a:xfrm>
            <a:off x="373464" y="3876995"/>
            <a:ext cx="60943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Assessment Type: </a:t>
            </a:r>
            <a:r>
              <a:rPr lang="en-AU" dirty="0"/>
              <a:t>Individual Project</a:t>
            </a:r>
          </a:p>
          <a:p>
            <a:endParaRPr lang="en-AU" dirty="0"/>
          </a:p>
          <a:p>
            <a:r>
              <a:rPr lang="en-AU" b="1" dirty="0">
                <a:solidFill>
                  <a:schemeClr val="accent2"/>
                </a:solidFill>
              </a:rPr>
              <a:t>Weight: </a:t>
            </a:r>
            <a:r>
              <a:rPr lang="en-AU" dirty="0"/>
              <a:t>40% of total grade</a:t>
            </a:r>
          </a:p>
          <a:p>
            <a:endParaRPr lang="en-AU" dirty="0"/>
          </a:p>
          <a:p>
            <a:r>
              <a:rPr lang="en-AU" b="1" dirty="0">
                <a:solidFill>
                  <a:schemeClr val="accent2"/>
                </a:solidFill>
              </a:rPr>
              <a:t>Submission Due: </a:t>
            </a:r>
            <a:r>
              <a:rPr lang="en-AU" dirty="0"/>
              <a:t>Week 13</a:t>
            </a:r>
          </a:p>
          <a:p>
            <a:endParaRPr lang="en-AU" dirty="0"/>
          </a:p>
          <a:p>
            <a:r>
              <a:rPr lang="en-AU" b="1" dirty="0">
                <a:solidFill>
                  <a:schemeClr val="accent2"/>
                </a:solidFill>
              </a:rPr>
              <a:t>Live Oral Demonstrations: </a:t>
            </a:r>
            <a:r>
              <a:rPr lang="en-AU" dirty="0"/>
              <a:t>Week 13 (Allocated timeslots)</a:t>
            </a:r>
          </a:p>
        </p:txBody>
      </p:sp>
    </p:spTree>
    <p:extLst>
      <p:ext uri="{BB962C8B-B14F-4D97-AF65-F5344CB8AC3E}">
        <p14:creationId xmlns:p14="http://schemas.microsoft.com/office/powerpoint/2010/main" val="3778050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1465E-B696-E3EB-127F-63D0E8202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630BF2-239D-1955-AE98-9635E8B91AEA}"/>
              </a:ext>
            </a:extLst>
          </p:cNvPr>
          <p:cNvSpPr txBox="1"/>
          <p:nvPr/>
        </p:nvSpPr>
        <p:spPr>
          <a:xfrm>
            <a:off x="373464" y="279906"/>
            <a:ext cx="1144507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4500" b="1" dirty="0">
                <a:solidFill>
                  <a:srgbClr val="002060"/>
                </a:solidFill>
              </a:rPr>
              <a:t>Project Goals</a:t>
            </a:r>
          </a:p>
          <a:p>
            <a:pPr algn="ctr">
              <a:buNone/>
            </a:pPr>
            <a:endParaRPr lang="en-A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84344-769E-873D-1D05-E4B440A5C8D9}"/>
              </a:ext>
            </a:extLst>
          </p:cNvPr>
          <p:cNvSpPr txBox="1"/>
          <p:nvPr/>
        </p:nvSpPr>
        <p:spPr>
          <a:xfrm>
            <a:off x="373463" y="1077784"/>
            <a:ext cx="830862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AU" dirty="0"/>
              <a:t>Project 1 was about building, tuning, and optimizing a machine learning model in a controlled lab environment. Project 2 transitions you into a Responsible AI Auditor.</a:t>
            </a:r>
          </a:p>
          <a:p>
            <a:pPr algn="just"/>
            <a:r>
              <a:rPr lang="en-AU" dirty="0"/>
              <a:t>You will evaluate your Project 1 model (California Housing or MNIST) alongside a real-world deployed AI system across four pillars: </a:t>
            </a:r>
          </a:p>
          <a:p>
            <a:pPr algn="just"/>
            <a:endParaRPr lang="en-AU" dirty="0"/>
          </a:p>
          <a:p>
            <a:pPr marL="342900" lvl="0" indent="-342900" algn="just">
              <a:buFont typeface="+mj-lt"/>
              <a:buAutoNum type="arabicPeriod"/>
            </a:pPr>
            <a:r>
              <a:rPr lang="en-AU" b="1" dirty="0">
                <a:solidFill>
                  <a:schemeClr val="accent2"/>
                </a:solidFill>
              </a:rPr>
              <a:t>Model Behaviour &amp; Limitations: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Explaining data dependencies, operational assumptions, failure modes, and performance under drift or noise.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AU" b="1" dirty="0">
              <a:solidFill>
                <a:schemeClr val="accent2"/>
              </a:solidFill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AU" b="1" dirty="0">
                <a:solidFill>
                  <a:schemeClr val="accent2"/>
                </a:solidFill>
              </a:rPr>
              <a:t>Explainability &amp; Transparency: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Opening "black-box" decisions using XAI techniques like SHAP, LIME, PDP, or Feature Importance.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AU" b="1" dirty="0">
              <a:solidFill>
                <a:schemeClr val="accent2"/>
              </a:solidFill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AU" b="1" dirty="0">
                <a:solidFill>
                  <a:schemeClr val="accent2"/>
                </a:solidFill>
              </a:rPr>
              <a:t>Bias, Fairness &amp; Societal Impact: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Auditing sources of bias (data, measurement, algorithmic, deployment) and selecting mathematical fairness metrics.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AU" dirty="0"/>
          </a:p>
          <a:p>
            <a:pPr marL="342900" lvl="0" indent="-342900" algn="just">
              <a:buFont typeface="+mj-lt"/>
              <a:buAutoNum type="arabicPeriod"/>
            </a:pPr>
            <a:r>
              <a:rPr lang="en-AU" b="1" dirty="0">
                <a:solidFill>
                  <a:schemeClr val="accent2"/>
                </a:solidFill>
              </a:rPr>
              <a:t>Governance &amp; Regulatory Alignment: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Proposing technical improvements, human oversight, and compliance under frameworks like the EU AI Act, NIST AI RMF, or OECD AI Principles. </a:t>
            </a:r>
          </a:p>
          <a:p>
            <a:pPr algn="just"/>
            <a:r>
              <a:rPr lang="en-AU" dirty="0"/>
              <a:t> </a:t>
            </a:r>
          </a:p>
          <a:p>
            <a:pPr algn="just"/>
            <a:endParaRPr lang="en-AU" dirty="0"/>
          </a:p>
          <a:p>
            <a:pPr marL="342900" indent="-342900" algn="just">
              <a:buFont typeface="+mj-lt"/>
              <a:buAutoNum type="arabicPeriod"/>
            </a:pPr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77F0E2-0353-9573-9FB7-57956E78B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086" y="2281287"/>
            <a:ext cx="3498929" cy="349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484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373E7-A570-3F4D-D91A-E901D4C08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7EF6F6-796D-146C-E287-702FA17DEE00}"/>
              </a:ext>
            </a:extLst>
          </p:cNvPr>
          <p:cNvSpPr txBox="1"/>
          <p:nvPr/>
        </p:nvSpPr>
        <p:spPr>
          <a:xfrm>
            <a:off x="373464" y="279906"/>
            <a:ext cx="114450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4500" b="1" dirty="0">
                <a:solidFill>
                  <a:srgbClr val="002060"/>
                </a:solidFill>
              </a:rPr>
              <a:t>How Your Project 1 Model Connects to the Real-World Case Study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877A78-668A-3C87-1E23-A512D474852A}"/>
              </a:ext>
            </a:extLst>
          </p:cNvPr>
          <p:cNvSpPr txBox="1"/>
          <p:nvPr/>
        </p:nvSpPr>
        <p:spPr>
          <a:xfrm>
            <a:off x="373464" y="1955196"/>
            <a:ext cx="1100469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dirty="0"/>
              <a:t>In Project 1, you built and tuned a model in a clean, controlled lab environment. In Project 2, you are taking on the role of an AI Auditor asking: 'If my Project 1 model were deployed in production today, how would it fail, and what real-world risks would it create?' </a:t>
            </a:r>
          </a:p>
          <a:p>
            <a:r>
              <a:rPr lang="en-AU" sz="1600" dirty="0"/>
              <a:t>To answer this, you will use a Real-World Case Study from Week 11 or 12 as a benchmark mirror for your own code: </a:t>
            </a:r>
          </a:p>
          <a:p>
            <a:pPr lvl="0"/>
            <a:r>
              <a:rPr lang="en-AU" sz="1600" dirty="0"/>
              <a:t>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accent2"/>
                </a:solidFill>
              </a:rPr>
              <a:t>If you built a California Housing model (Tabular):</a:t>
            </a:r>
            <a:r>
              <a:rPr lang="en-AU" sz="1600" dirty="0">
                <a:solidFill>
                  <a:schemeClr val="accent2"/>
                </a:solidFill>
              </a:rPr>
              <a:t> </a:t>
            </a:r>
            <a:r>
              <a:rPr lang="en-AU" sz="1600" dirty="0"/>
              <a:t>You will compare your model to real-world financial or valuation algorithms (e.g., Apple Card or Healthcare Risk). You will show how features in your model (like location or income) act as </a:t>
            </a:r>
            <a:r>
              <a:rPr lang="en-AU" sz="1600" b="1" dirty="0"/>
              <a:t>proxy variables</a:t>
            </a:r>
            <a:r>
              <a:rPr lang="en-AU" sz="1600" dirty="0"/>
              <a:t>, causing spatial drift and demographic disparities—the exact same technical failure that led to discriminatory outputs in real-world automated scoring systems.</a:t>
            </a:r>
          </a:p>
          <a:p>
            <a:pPr lvl="0"/>
            <a:endParaRPr lang="en-AU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accent2"/>
                </a:solidFill>
              </a:rPr>
              <a:t>If you built an MNIST model (Vision):</a:t>
            </a:r>
            <a:r>
              <a:rPr lang="en-AU" sz="1600" dirty="0">
                <a:solidFill>
                  <a:schemeClr val="accent2"/>
                </a:solidFill>
              </a:rPr>
              <a:t> </a:t>
            </a:r>
            <a:r>
              <a:rPr lang="en-AU" sz="1600" dirty="0"/>
              <a:t>You will compare your model to real-world computer vision failures (e.g., Facial Recognition or Medical Imaging). You will demonstrate how 98%+ lab accuracy degrades under real-world scanner noise, lighting, or background shading, using XAI tools (like LIME) to audit whether your model reads true digit geometry or just background noise artifacts.</a:t>
            </a:r>
          </a:p>
          <a:p>
            <a:pPr lvl="1"/>
            <a:endParaRPr lang="en-AU" sz="1600" dirty="0"/>
          </a:p>
          <a:p>
            <a:r>
              <a:rPr lang="en-AU" sz="1600" dirty="0"/>
              <a:t>Your goal is not to write an essay on a random news event, but to audit your own Project 1 system using a real-world case study as context to justify your fairness metrics, explainability tools (SHAP/LIME), and regulatory safeguards (like EU AI Act or NIST AI RMF compliance).</a:t>
            </a:r>
          </a:p>
          <a:p>
            <a:r>
              <a:rPr lang="en-AU" dirty="0"/>
              <a:t> </a:t>
            </a:r>
          </a:p>
          <a:p>
            <a:pPr algn="just"/>
            <a:endParaRPr lang="en-AU" dirty="0"/>
          </a:p>
          <a:p>
            <a:pPr marL="342900" indent="-342900" algn="just">
              <a:buFont typeface="+mj-lt"/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025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AB587-967F-15AC-D3E5-1871FF8F5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90585F-3A47-45DB-8D42-16C9E5C9E2AE}"/>
              </a:ext>
            </a:extLst>
          </p:cNvPr>
          <p:cNvSpPr txBox="1"/>
          <p:nvPr/>
        </p:nvSpPr>
        <p:spPr>
          <a:xfrm>
            <a:off x="373464" y="279906"/>
            <a:ext cx="1144507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4500" b="1" dirty="0">
                <a:solidFill>
                  <a:srgbClr val="002060"/>
                </a:solidFill>
              </a:rPr>
              <a:t>Grading Guideline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CFB984-2979-DF59-B6D2-1BE2F8F8E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664129"/>
              </p:ext>
            </p:extLst>
          </p:nvPr>
        </p:nvGraphicFramePr>
        <p:xfrm>
          <a:off x="1608842" y="1353353"/>
          <a:ext cx="8974316" cy="4914630"/>
        </p:xfrm>
        <a:graphic>
          <a:graphicData uri="http://schemas.openxmlformats.org/drawingml/2006/table">
            <a:tbl>
              <a:tblPr/>
              <a:tblGrid>
                <a:gridCol w="2243579">
                  <a:extLst>
                    <a:ext uri="{9D8B030D-6E8A-4147-A177-3AD203B41FA5}">
                      <a16:colId xmlns:a16="http://schemas.microsoft.com/office/drawing/2014/main" val="170069933"/>
                    </a:ext>
                  </a:extLst>
                </a:gridCol>
                <a:gridCol w="2243579">
                  <a:extLst>
                    <a:ext uri="{9D8B030D-6E8A-4147-A177-3AD203B41FA5}">
                      <a16:colId xmlns:a16="http://schemas.microsoft.com/office/drawing/2014/main" val="509924527"/>
                    </a:ext>
                  </a:extLst>
                </a:gridCol>
                <a:gridCol w="2243579">
                  <a:extLst>
                    <a:ext uri="{9D8B030D-6E8A-4147-A177-3AD203B41FA5}">
                      <a16:colId xmlns:a16="http://schemas.microsoft.com/office/drawing/2014/main" val="1435086785"/>
                    </a:ext>
                  </a:extLst>
                </a:gridCol>
                <a:gridCol w="2243579">
                  <a:extLst>
                    <a:ext uri="{9D8B030D-6E8A-4147-A177-3AD203B41FA5}">
                      <a16:colId xmlns:a16="http://schemas.microsoft.com/office/drawing/2014/main" val="4182823635"/>
                    </a:ext>
                  </a:extLst>
                </a:gridCol>
              </a:tblGrid>
              <a:tr h="222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effectLst/>
                          <a:latin typeface="Google Sans Text"/>
                        </a:rPr>
                        <a:t>Phase / Step</a:t>
                      </a:r>
                      <a:endParaRPr lang="en-AU" sz="1200">
                        <a:effectLst/>
                        <a:latin typeface="Google Sans Text"/>
                      </a:endParaRP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effectLst/>
                          <a:latin typeface="Google Sans Text"/>
                        </a:rPr>
                        <a:t>Pass / Credit (P/C)</a:t>
                      </a:r>
                      <a:endParaRPr lang="en-AU" sz="1200">
                        <a:effectLst/>
                        <a:latin typeface="Google Sans Text"/>
                      </a:endParaRP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 dirty="0">
                          <a:effectLst/>
                          <a:latin typeface="Google Sans Text"/>
                        </a:rPr>
                        <a:t>Distinction (D)</a:t>
                      </a:r>
                      <a:endParaRPr lang="en-AU" sz="1200" dirty="0">
                        <a:effectLst/>
                        <a:latin typeface="Google Sans Text"/>
                      </a:endParaRP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 dirty="0">
                          <a:effectLst/>
                          <a:latin typeface="Google Sans Text"/>
                        </a:rPr>
                        <a:t>High Distinction (HD)</a:t>
                      </a:r>
                      <a:endParaRPr lang="en-AU" sz="1200" dirty="0">
                        <a:effectLst/>
                        <a:latin typeface="Google Sans Text"/>
                      </a:endParaRP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0552"/>
                  </a:ext>
                </a:extLst>
              </a:tr>
              <a:tr h="1147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effectLst/>
                          <a:latin typeface="Google Sans Text"/>
                        </a:rPr>
                        <a:t>Step 1: System Limitations &amp; Failure Modes</a:t>
                      </a:r>
                      <a:endParaRPr lang="en-AU" sz="120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br>
                        <a:rPr lang="en-AU" sz="1200">
                          <a:effectLst/>
                          <a:latin typeface="Google Sans Text"/>
                        </a:rPr>
                      </a:br>
                      <a:endParaRPr lang="en-AU" sz="120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AU" sz="1200" i="1">
                          <a:effectLst/>
                          <a:latin typeface="Google Sans Text"/>
                        </a:rPr>
                        <a:t>(LO1: Model Behaviour &amp; Assumptions)</a:t>
                      </a:r>
                      <a:endParaRPr lang="en-AU" sz="1200">
                        <a:effectLst/>
                        <a:latin typeface="Google Sans Text"/>
                      </a:endParaRP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Identifies basic test accuracy metrics and primary operational limits.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Explains specific failure modes (e.g., performance drop under data drift or input noise).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Conducts a deep audit of model assumptions, edge-case vulnerabilities, and data dependencies.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265415"/>
                  </a:ext>
                </a:extLst>
              </a:tr>
              <a:tr h="993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effectLst/>
                          <a:latin typeface="Google Sans Text"/>
                        </a:rPr>
                        <a:t>Step 2: Explainability &amp; Transparency</a:t>
                      </a:r>
                      <a:endParaRPr lang="en-AU" sz="120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br>
                        <a:rPr lang="en-AU" sz="1200">
                          <a:effectLst/>
                          <a:latin typeface="Google Sans Text"/>
                        </a:rPr>
                      </a:br>
                      <a:endParaRPr lang="en-AU" sz="120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AU" sz="1200" i="1">
                          <a:effectLst/>
                          <a:latin typeface="Google Sans Text"/>
                        </a:rPr>
                        <a:t>(LO2: Model Decisions &amp; Dependencies)</a:t>
                      </a:r>
                      <a:endParaRPr lang="en-AU" sz="1200">
                        <a:effectLst/>
                        <a:latin typeface="Google Sans Text"/>
                      </a:endParaRP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Applies basic global explainability (e.g., default feature importance).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Uses advanced XAI tools (PDP or LIME) to explain individual predictions.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Applies </a:t>
                      </a:r>
                      <a:r>
                        <a:rPr lang="en-AU" sz="1200" b="1">
                          <a:effectLst/>
                          <a:latin typeface="Google Sans Text"/>
                        </a:rPr>
                        <a:t>SHAP / LIME</a:t>
                      </a:r>
                      <a:r>
                        <a:rPr lang="en-AU" sz="1200">
                          <a:effectLst/>
                          <a:latin typeface="Google Sans Text"/>
                        </a:rPr>
                        <a:t> to audit local decisions, identifying hidden proxy variables or spurious feature reliance.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553197"/>
                  </a:ext>
                </a:extLst>
              </a:tr>
              <a:tr h="993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effectLst/>
                          <a:latin typeface="Google Sans Text"/>
                        </a:rPr>
                        <a:t>Step 3: Bias, Fairness &amp; Ethical Audit</a:t>
                      </a:r>
                      <a:endParaRPr lang="en-AU" sz="120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br>
                        <a:rPr lang="en-AU" sz="1200">
                          <a:effectLst/>
                          <a:latin typeface="Google Sans Text"/>
                        </a:rPr>
                      </a:br>
                      <a:endParaRPr lang="en-AU" sz="120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AU" sz="1200" i="1">
                          <a:effectLst/>
                          <a:latin typeface="Google Sans Text"/>
                        </a:rPr>
                        <a:t>(LO3: Ethical Risks &amp; Societal Impact)</a:t>
                      </a:r>
                      <a:endParaRPr lang="en-AU" sz="1200">
                        <a:effectLst/>
                        <a:latin typeface="Google Sans Text"/>
                      </a:endParaRP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Identifies basic dataset imbalance and defines one group fairness metric.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Analyzes measurement or evaluation bias and evaluates conflicting fairness metrics.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Evaluates </a:t>
                      </a:r>
                      <a:r>
                        <a:rPr lang="en-AU" sz="1200" b="1">
                          <a:effectLst/>
                          <a:latin typeface="Google Sans Text"/>
                        </a:rPr>
                        <a:t>the Impossibility of Perfect Fairness</a:t>
                      </a:r>
                      <a:r>
                        <a:rPr lang="en-AU" sz="1200">
                          <a:effectLst/>
                          <a:latin typeface="Google Sans Text"/>
                        </a:rPr>
                        <a:t> (e.g., Demographic Parity vs. Predictive Parity) and maps societal harm.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311507"/>
                  </a:ext>
                </a:extLst>
              </a:tr>
              <a:tr h="993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 dirty="0">
                          <a:effectLst/>
                          <a:latin typeface="Google Sans Text"/>
                        </a:rPr>
                        <a:t>Step 4: Governance &amp; Technical Redesign</a:t>
                      </a:r>
                      <a:endParaRPr lang="en-AU" sz="12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br>
                        <a:rPr lang="en-AU" sz="1200" dirty="0">
                          <a:effectLst/>
                          <a:latin typeface="Google Sans Text"/>
                        </a:rPr>
                      </a:br>
                      <a:endParaRPr lang="en-AU" sz="12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AU" sz="1200" i="1" dirty="0">
                          <a:effectLst/>
                          <a:latin typeface="Google Sans Text"/>
                        </a:rPr>
                        <a:t>(LO2 &amp; LO3: Improvements &amp; Defence)</a:t>
                      </a:r>
                      <a:endParaRPr lang="en-AU" sz="1200" dirty="0">
                        <a:effectLst/>
                        <a:latin typeface="Google Sans Text"/>
                      </a:endParaRP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Proposes basic model retraining or data cleaning steps.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Proposes human-in-the-loop (HITL) review processes for low-confidence outputs.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>
                          <a:effectLst/>
                          <a:latin typeface="Google Sans Text"/>
                        </a:rPr>
                        <a:t>Designs an actionable </a:t>
                      </a:r>
                      <a:r>
                        <a:rPr lang="en-AU" sz="1200" b="1" dirty="0">
                          <a:effectLst/>
                          <a:latin typeface="Google Sans Text"/>
                        </a:rPr>
                        <a:t>deployment roadmap</a:t>
                      </a:r>
                      <a:r>
                        <a:rPr lang="en-AU" sz="1200" dirty="0">
                          <a:effectLst/>
                          <a:latin typeface="Google Sans Text"/>
                        </a:rPr>
                        <a:t> aligned with global frameworks (EU AI Act, NIST AI RMF) and defends choices in Q&amp;A.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56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522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BFB0C-DD85-D379-C806-39D58B272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39CC32-6D57-335C-A6CD-4271FC456CA0}"/>
              </a:ext>
            </a:extLst>
          </p:cNvPr>
          <p:cNvSpPr txBox="1"/>
          <p:nvPr/>
        </p:nvSpPr>
        <p:spPr>
          <a:xfrm>
            <a:off x="373464" y="279906"/>
            <a:ext cx="1144507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4500" b="1" dirty="0">
                <a:solidFill>
                  <a:srgbClr val="002060"/>
                </a:solidFill>
              </a:rPr>
              <a:t>Deliverables </a:t>
            </a:r>
          </a:p>
          <a:p>
            <a:pPr algn="ctr">
              <a:buNone/>
            </a:pPr>
            <a:endParaRPr lang="en-A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629C6-9491-E04F-BD67-DBF70C710066}"/>
              </a:ext>
            </a:extLst>
          </p:cNvPr>
          <p:cNvSpPr txBox="1"/>
          <p:nvPr/>
        </p:nvSpPr>
        <p:spPr>
          <a:xfrm>
            <a:off x="584464" y="1341735"/>
            <a:ext cx="9982984" cy="4833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800" b="1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A. Ethical &amp; Societal Analysis Paper (Written Report)</a:t>
            </a:r>
            <a:endParaRPr lang="en-AU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b="1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 1: </a:t>
            </a:r>
            <a:r>
              <a:rPr lang="en-A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Introduction &amp; System Profiles</a:t>
            </a:r>
            <a:r>
              <a:rPr lang="en-A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— Summarize your Project 1 model (architecture, dataset, target) and your chosen real-world system from the approved list. 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b="1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 2: </a:t>
            </a:r>
            <a:r>
              <a:rPr lang="en-A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Technical &amp; Operational Comparison</a:t>
            </a:r>
            <a:r>
              <a:rPr lang="en-A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— Compare how both systems handle data distribution shifts, latency/memory constraints, and unexpected noise. 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b="1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 3: </a:t>
            </a:r>
            <a:r>
              <a:rPr lang="en-A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Explainability &amp; Transparency Audit</a:t>
            </a:r>
            <a:r>
              <a:rPr lang="en-A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— Demonstrate how XAI (SHAP, LIME, PDP) reveals decision logic and uncovers proxy variables or bad feature dependencies. 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b="1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 4: </a:t>
            </a:r>
            <a:r>
              <a:rPr lang="en-A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Bias &amp; Fairness Analysis</a:t>
            </a:r>
            <a:r>
              <a:rPr lang="en-A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— Categorize sources of bias and evaluate mathematical fairness trade-offs. 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b="1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 5: </a:t>
            </a:r>
            <a:r>
              <a:rPr lang="en-A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Governance, Mitigation &amp; Technical Redesign</a:t>
            </a:r>
            <a:r>
              <a:rPr lang="en-A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— Propose concrete engineering fixes (data rebalancing, drift monitoring, Human-in-the-Loop) and compliance pathways (e.g., NIST AI RMF). 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67707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C3F8A-1723-90E6-2503-4220D672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B4F15D-3A5D-6F79-BEDE-5665BBC2A474}"/>
              </a:ext>
            </a:extLst>
          </p:cNvPr>
          <p:cNvSpPr txBox="1"/>
          <p:nvPr/>
        </p:nvSpPr>
        <p:spPr>
          <a:xfrm>
            <a:off x="373464" y="279906"/>
            <a:ext cx="1144507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4500" b="1" dirty="0">
                <a:solidFill>
                  <a:srgbClr val="002060"/>
                </a:solidFill>
              </a:rPr>
              <a:t>Deliverables </a:t>
            </a:r>
          </a:p>
          <a:p>
            <a:pPr algn="ctr">
              <a:buNone/>
            </a:pPr>
            <a:endParaRPr lang="en-A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7C2F89-5BF7-BFA6-7391-900A6B079C25}"/>
              </a:ext>
            </a:extLst>
          </p:cNvPr>
          <p:cNvSpPr txBox="1"/>
          <p:nvPr/>
        </p:nvSpPr>
        <p:spPr>
          <a:xfrm>
            <a:off x="373464" y="1221287"/>
            <a:ext cx="9982984" cy="24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AU" b="1" kern="100" dirty="0">
                <a:solidFill>
                  <a:schemeClr val="accent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 B. Live Presentation &amp; Oral Defence (Slides + Q&amp;A)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U" dirty="0"/>
              <a:t>Project 1 Model vs. Real-World System Overview.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U" dirty="0"/>
              <a:t>Technical Limitations, Failure Modes &amp; Data Drift.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U" dirty="0"/>
              <a:t>Explainability Deep-Dive (Visualizing SHAP / LIME / PDP).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U" dirty="0"/>
              <a:t>Ethical Risks, Bias Sources &amp; Fairness Metric Selection.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U" dirty="0"/>
              <a:t>Technical Upgrades, Human-in-the-Loop &amp; Regulatory Alignment. </a:t>
            </a:r>
          </a:p>
          <a:p>
            <a:r>
              <a:rPr lang="en-AU" dirty="0"/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A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E438F-0706-0D4F-2FE7-C203B9C71FC7}"/>
              </a:ext>
            </a:extLst>
          </p:cNvPr>
          <p:cNvSpPr txBox="1"/>
          <p:nvPr/>
        </p:nvSpPr>
        <p:spPr>
          <a:xfrm>
            <a:off x="452487" y="3880802"/>
            <a:ext cx="7626283" cy="2193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b="1" kern="100" dirty="0">
                <a:solidFill>
                  <a:schemeClr val="accent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C. Academic Integrity Appendix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Include a reflective statement detailing how AI tools (if any) were used for idea structuring/brainstorming, confirming that all code interpretations, evaluations, and text are original and human-authored.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69205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F64CC-BCCB-630B-E14D-96C09AA4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FF323F-525D-11E8-0C4C-CE77E5E316AB}"/>
              </a:ext>
            </a:extLst>
          </p:cNvPr>
          <p:cNvSpPr txBox="1"/>
          <p:nvPr/>
        </p:nvSpPr>
        <p:spPr>
          <a:xfrm>
            <a:off x="373464" y="279906"/>
            <a:ext cx="114450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4500" b="1" dirty="0">
                <a:solidFill>
                  <a:srgbClr val="002060"/>
                </a:solidFill>
              </a:rPr>
              <a:t>Example 1</a:t>
            </a:r>
          </a:p>
          <a:p>
            <a:pPr algn="ctr">
              <a:buNone/>
            </a:pPr>
            <a:endParaRPr lang="en-AU" sz="4500" b="1" dirty="0">
              <a:solidFill>
                <a:srgbClr val="002060"/>
              </a:solidFill>
            </a:endParaRPr>
          </a:p>
          <a:p>
            <a:pPr algn="ctr">
              <a:buNone/>
            </a:pPr>
            <a:endParaRPr lang="en-AU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1637D-3DF8-8959-7924-83442DD8B7FB}"/>
              </a:ext>
            </a:extLst>
          </p:cNvPr>
          <p:cNvSpPr txBox="1"/>
          <p:nvPr/>
        </p:nvSpPr>
        <p:spPr>
          <a:xfrm>
            <a:off x="3048786" y="100462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chemeClr val="accent2"/>
                </a:solidFill>
              </a:rPr>
              <a:t>California Housing Dataset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21049E-ABE1-B9E4-2E70-3556586404F6}"/>
              </a:ext>
            </a:extLst>
          </p:cNvPr>
          <p:cNvSpPr txBox="1"/>
          <p:nvPr/>
        </p:nvSpPr>
        <p:spPr>
          <a:xfrm>
            <a:off x="373464" y="1373956"/>
            <a:ext cx="10976408" cy="4827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Project 1 Baseline: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You built a regression model (e.g., Random Forest or Linear Regression) predicting median house values (</a:t>
            </a:r>
            <a:r>
              <a:rPr lang="en-AU" dirty="0" err="1"/>
              <a:t>MedHouseVal</a:t>
            </a:r>
            <a:r>
              <a:rPr lang="en-AU" dirty="0"/>
              <a:t>) using census block features. </a:t>
            </a:r>
          </a:p>
          <a:p>
            <a:endParaRPr lang="en-AU" dirty="0"/>
          </a:p>
          <a:p>
            <a:r>
              <a:rPr lang="en-AU" b="1" dirty="0">
                <a:solidFill>
                  <a:schemeClr val="accent2"/>
                </a:solidFill>
              </a:rPr>
              <a:t>Project 2 Extension:</a:t>
            </a:r>
            <a:endParaRPr lang="en-AU" dirty="0">
              <a:solidFill>
                <a:schemeClr val="accent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Step 1 (Technical Limitations &amp; Drift):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Show how your model degrades when deployed in new regions due to </a:t>
            </a:r>
            <a:r>
              <a:rPr lang="en-AU" b="1" dirty="0"/>
              <a:t>covariate shift</a:t>
            </a:r>
            <a:r>
              <a:rPr lang="en-AU" dirty="0"/>
              <a:t>. Link to Apple Card / Healthcare Risk case studies (Sections 12.7.3 &amp; 12.7.7).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AU" b="1" dirty="0">
              <a:solidFill>
                <a:schemeClr val="accent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Step 2 (Explainability):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Use </a:t>
            </a:r>
            <a:r>
              <a:rPr lang="en-AU" b="1" dirty="0"/>
              <a:t>PDP</a:t>
            </a:r>
            <a:r>
              <a:rPr lang="en-AU" dirty="0"/>
              <a:t> and </a:t>
            </a:r>
            <a:r>
              <a:rPr lang="en-AU" b="1" dirty="0"/>
              <a:t>SHAP force plots</a:t>
            </a:r>
            <a:r>
              <a:rPr lang="en-AU" dirty="0"/>
              <a:t> to reveal non-linear trends and show how location acts as a </a:t>
            </a:r>
            <a:r>
              <a:rPr lang="en-AU" b="1" dirty="0"/>
              <a:t>proxy variable</a:t>
            </a:r>
            <a:r>
              <a:rPr lang="en-AU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AU" b="1" dirty="0">
              <a:solidFill>
                <a:schemeClr val="accent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Step 3 (Bias &amp; Fairness):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Identify </a:t>
            </a:r>
            <a:r>
              <a:rPr lang="en-AU" b="1" dirty="0"/>
              <a:t>Measurement Bias</a:t>
            </a:r>
            <a:r>
              <a:rPr lang="en-AU" dirty="0"/>
              <a:t> and check </a:t>
            </a:r>
            <a:r>
              <a:rPr lang="en-AU" b="1" dirty="0"/>
              <a:t>Predictive Parity</a:t>
            </a:r>
            <a:r>
              <a:rPr lang="en-AU" dirty="0"/>
              <a:t> across income tiers to ensure consistent RMSE error rates.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AU" b="1" dirty="0">
              <a:solidFill>
                <a:schemeClr val="accent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Step 4 (Governance &amp; Redesign):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Design a drift-monitoring pipeline (</a:t>
            </a:r>
            <a:r>
              <a:rPr lang="en-AU" b="1" dirty="0"/>
              <a:t>NIST AI RMF</a:t>
            </a:r>
            <a:r>
              <a:rPr lang="en-AU" dirty="0"/>
              <a:t>) and human oversight controls for low-confidence estimates.  </a:t>
            </a:r>
          </a:p>
          <a:p>
            <a:r>
              <a:rPr lang="en-AU" dirty="0"/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A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537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A954-1CA2-328C-624D-E708A554E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E832C6-6A08-3F9A-9E1F-95E810A532D0}"/>
              </a:ext>
            </a:extLst>
          </p:cNvPr>
          <p:cNvSpPr txBox="1"/>
          <p:nvPr/>
        </p:nvSpPr>
        <p:spPr>
          <a:xfrm>
            <a:off x="373464" y="279906"/>
            <a:ext cx="114450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4500" b="1" dirty="0">
                <a:solidFill>
                  <a:srgbClr val="002060"/>
                </a:solidFill>
              </a:rPr>
              <a:t>Example 2</a:t>
            </a:r>
          </a:p>
          <a:p>
            <a:pPr algn="ctr">
              <a:buNone/>
            </a:pPr>
            <a:endParaRPr lang="en-AU" sz="4500" b="1" dirty="0">
              <a:solidFill>
                <a:srgbClr val="002060"/>
              </a:solidFill>
            </a:endParaRPr>
          </a:p>
          <a:p>
            <a:pPr algn="ctr">
              <a:buNone/>
            </a:pPr>
            <a:endParaRPr lang="en-AU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5CC87A-F0F3-4B6F-9E1C-4374F145FE05}"/>
              </a:ext>
            </a:extLst>
          </p:cNvPr>
          <p:cNvSpPr txBox="1"/>
          <p:nvPr/>
        </p:nvSpPr>
        <p:spPr>
          <a:xfrm>
            <a:off x="3048786" y="100462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chemeClr val="accent2"/>
                </a:solidFill>
              </a:rPr>
              <a:t>MNIST Dataset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AEC46E-E880-F215-FF0D-0EF7FDD00C87}"/>
              </a:ext>
            </a:extLst>
          </p:cNvPr>
          <p:cNvSpPr txBox="1"/>
          <p:nvPr/>
        </p:nvSpPr>
        <p:spPr>
          <a:xfrm>
            <a:off x="373464" y="1373956"/>
            <a:ext cx="10910420" cy="5104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Project 1 Baseline: </a:t>
            </a:r>
            <a:r>
              <a:rPr lang="en-AU" dirty="0"/>
              <a:t>You built a classification model (e.g., CNN, Support Vector Machine, or Random Forest) categorizing 28x28 pixel images into digit classes 0–9. </a:t>
            </a:r>
          </a:p>
          <a:p>
            <a:endParaRPr lang="en-AU" dirty="0"/>
          </a:p>
          <a:p>
            <a:r>
              <a:rPr lang="en-AU" b="1" dirty="0">
                <a:solidFill>
                  <a:schemeClr val="accent2"/>
                </a:solidFill>
              </a:rPr>
              <a:t>Project 2 Extension:</a:t>
            </a:r>
            <a:endParaRPr lang="en-AU" dirty="0">
              <a:solidFill>
                <a:schemeClr val="accent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Step 1 (Technical Limitations &amp; Noise):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Demonstrate how 98%+ lab accuracy on clean images drops when exposed to real-world scanner noise, shading, or ink bleed. Link to Medical Imaging Diagnostic case study (Section 12.6).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AU" b="1" dirty="0">
              <a:solidFill>
                <a:schemeClr val="accent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Step 2 (Explainability):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Use </a:t>
            </a:r>
            <a:r>
              <a:rPr lang="en-AU" b="1" dirty="0"/>
              <a:t>LIME </a:t>
            </a:r>
            <a:r>
              <a:rPr lang="en-AU" b="1" dirty="0" err="1"/>
              <a:t>superpixel</a:t>
            </a:r>
            <a:r>
              <a:rPr lang="en-AU" b="1" dirty="0"/>
              <a:t> explanations</a:t>
            </a:r>
            <a:r>
              <a:rPr lang="en-AU" dirty="0"/>
              <a:t> or pixel heatmaps on misclassified digits to audit whether the model inspects stroke geometry or background noise.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AU" b="1" dirty="0">
              <a:solidFill>
                <a:schemeClr val="accent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Step 3 (Bias &amp; Fairness):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Identify </a:t>
            </a:r>
            <a:r>
              <a:rPr lang="en-AU" b="1" dirty="0"/>
              <a:t>Evaluation Bias</a:t>
            </a:r>
            <a:r>
              <a:rPr lang="en-AU" dirty="0"/>
              <a:t> from clean training data and check </a:t>
            </a:r>
            <a:r>
              <a:rPr lang="en-AU" b="1" dirty="0"/>
              <a:t>Equalized Odds</a:t>
            </a:r>
            <a:r>
              <a:rPr lang="en-AU" dirty="0"/>
              <a:t> to ensure false-positive rates remain equal across all digit classes.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AU" b="1" dirty="0">
              <a:solidFill>
                <a:schemeClr val="accent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Step 4 (Governance &amp; Redesign):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Implement confidence thresholding (&lt;85%) to route low-probability predictions </a:t>
            </a:r>
          </a:p>
          <a:p>
            <a:r>
              <a:rPr lang="en-AU" dirty="0"/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8807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7282B-D59B-D432-3DCB-DCFCF75D3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787579E-DF59-97A2-A20E-B24684F4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B4663-3239-6DB2-289E-A884E206B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" t="9091" r="2228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8137A2F-5D84-25FB-569E-4DE828DB9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4EFB2F-1593-9D9E-7B4F-7F94437AC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6219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AU" sz="4400" dirty="0">
                <a:solidFill>
                  <a:srgbClr val="002060"/>
                </a:solidFill>
              </a:rPr>
              <a:t>Good Luck !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8DF5AF-2311-642C-E360-F08997C04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116EB6-FD45-BDA7-D77D-38E4B18A5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314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83b3fa-365b-4fa2-9885-a560b35483b3}" enabled="1" method="Standard" siteId="{df7f7579-3e9c-4a7e-b844-420280f53859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1431</Words>
  <Application>Microsoft Office PowerPoint</Application>
  <PresentationFormat>Widescreen</PresentationFormat>
  <Paragraphs>112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Google Sans Text</vt:lpstr>
      <vt:lpstr>Symbol</vt:lpstr>
      <vt:lpstr>Office Theme</vt:lpstr>
      <vt:lpstr>Project 2 Implementation &amp; Grading Guideline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Good Luck ! </vt:lpstr>
    </vt:vector>
  </TitlesOfParts>
  <Company>The University of Melbourne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Hamid Bagha</dc:creator>
  <cp:lastModifiedBy>Dylan Lindley</cp:lastModifiedBy>
  <cp:revision>36</cp:revision>
  <dcterms:created xsi:type="dcterms:W3CDTF">2026-07-02T01:29:07Z</dcterms:created>
  <dcterms:modified xsi:type="dcterms:W3CDTF">2026-08-15T04:36:40Z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Internal</vt:lpwstr>
  </property>
</Properties>
</file>